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1" r:id="rId4"/>
    <p:sldId id="271" r:id="rId5"/>
    <p:sldId id="259" r:id="rId6"/>
    <p:sldId id="267" r:id="rId7"/>
    <p:sldId id="268" r:id="rId8"/>
    <p:sldId id="262" r:id="rId9"/>
    <p:sldId id="270" r:id="rId10"/>
    <p:sldId id="264" r:id="rId11"/>
    <p:sldId id="265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D1382-A64A-49FB-AA2D-22AE89ABF930}" v="51" dt="2026-08-19T18:01:37.491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16845-F96F-44D1-A4C5-73C29C00C2AA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9D501-3A3D-4FB0-BE0B-4021903E4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8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D501-3A3D-4FB0-BE0B-4021903E40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1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7276-E41F-8ADE-C9E7-743C1E705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81123-0FA4-0AF4-BE36-AD5504922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91E8-5F7C-1F54-1D93-5DCD8463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9F1BD-D82B-F6A5-47BC-42B71F4F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1DFC-F001-2D21-9970-9ACFC895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5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6B22-8766-0CEA-17D8-53E755C7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EF4E-383E-2267-994C-CEA6DDADB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76093-685B-0A76-0C80-6B6B7A80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4866B-8979-7612-6F9F-D18EB785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94DD9-1FFF-3A1E-580B-6E6DDD94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7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F495-DCA6-8478-4170-7FC341A7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78791-8A20-22C0-FCE9-50C680A7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372C3-943B-385B-498F-4723AD0F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38008-1E57-8747-B76C-EFB799F7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CEC69-65A8-DB9D-2CFD-2BD37178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8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EC47-A4CB-EDE1-7C08-EF06B725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147AA-8E31-1E6C-72AA-799C0BA8F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FF690-81A8-F345-D3D4-3F0B331AA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252EB-65F9-558C-78C2-4492C0D1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5FA07-9A39-1F58-AD88-5FDF3048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0212A-47A5-B66E-7563-A97A7634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1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E4AA-B25C-E182-8F7D-3B70A135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E2FB4-0B66-720F-F9C7-C66EA3EB2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BCCFD-8204-E73F-C6B2-D7B91850C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6C409-E57D-BAE5-2D4A-50FFBBF0F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9FE91-CC1C-7E67-B2CE-8A531858F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3F4D3-8B23-894A-976D-C03F72FF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9A620-53A9-2112-BD00-55EC1E90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656AA-E5B4-CD33-2FD1-16F55D96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1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31AE-1612-931A-F77B-EAF06C1D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79140-D1CE-D947-8378-38742954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7F5A4-6559-E3ED-8915-20348136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45CE5-9BFF-F89D-7887-05ACDE3E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2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FC184-7EDD-DAAE-A91C-DE4EEF07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2022-57D5-50E8-4AF1-A101C19F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614C3-2C13-935C-00F6-006BEDD1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1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7D74F-3F0C-9DB0-FFF8-DE2B732A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623B2-1AD9-E524-7CB9-C110070E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624B6-37CB-EA2B-73DC-8FC71A147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5E35B-68F2-91CF-F393-376FD1BF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59CEF-B1A5-6775-58E9-6979470C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F35BB-D011-30B9-6BDD-FA5FAE08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6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77E8-7B3E-59FD-3392-8B7A2946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CF225-A527-CA82-1044-D81511CB9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23B9E-8050-C752-BF2C-21EFFD996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6D447-CB4D-57C7-1B74-15B5474F7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14A6B-E952-501F-D3D1-F116DF04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56BA-5AA0-727C-1579-7D80BA2A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4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CAD1-5EED-9A8F-EB73-828DA0019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084D9-2C5F-0077-92B8-6C9DCED77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5340-DEC3-4CC0-798F-5D6B23E0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7CFD-5856-D9FB-4FC3-E52C01D0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1D22B-B6A0-37A2-8ED5-2665ECB70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8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00AFC-DD1E-4ABB-67E3-2DBB4C232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E53C6-BBC0-6C91-BF1D-9893355F4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42396-1E7C-DD2B-4684-5B6B5010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5B78D-DB85-32C0-C322-DAD14E45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732-7D74-BD66-60CD-CF86302E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8899E-34C8-A44E-DEA2-F139086D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94D87-C434-E6FE-7228-F0E28D1D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D1397-3099-3F2C-8B0F-EFD2B9F2C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C38FE-0441-46AF-992F-E1454BB36BBD}" type="datetimeFigureOut">
              <a:rPr lang="en-US" smtClean="0"/>
              <a:t>20-Aug-26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B5F5E-FFF1-1119-4C04-405CCBFD0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34BA1-7E4C-EDBA-03EB-39B2BDF3B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FA618-16C5-40B4-99EE-2AC99E1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8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AF540C-2393-FB83-DFDF-3EB873C7592B}"/>
              </a:ext>
            </a:extLst>
          </p:cNvPr>
          <p:cNvSpPr/>
          <p:nvPr/>
        </p:nvSpPr>
        <p:spPr>
          <a:xfrm>
            <a:off x="638175" y="689056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en-US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AccidentCascade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AI: Predicting Secondary Road Accidents Using Vehicle Interaction Intelligence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EF752-BB7D-E5F0-6039-4D03B69673E8}"/>
              </a:ext>
            </a:extLst>
          </p:cNvPr>
          <p:cNvSpPr txBox="1"/>
          <p:nvPr/>
        </p:nvSpPr>
        <p:spPr>
          <a:xfrm>
            <a:off x="738187" y="2246806"/>
            <a:ext cx="107156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BF40B-318A-7921-FACB-8D8CCE32A6FD}"/>
              </a:ext>
            </a:extLst>
          </p:cNvPr>
          <p:cNvSpPr txBox="1"/>
          <p:nvPr/>
        </p:nvSpPr>
        <p:spPr>
          <a:xfrm>
            <a:off x="2995612" y="2868213"/>
            <a:ext cx="6200774" cy="49149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sday, August </a:t>
            </a:r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F05A64-CA4B-16A3-3B3D-99CECA27F3A6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8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8C7B11-6F7D-B368-730D-0C866E2DB1EA}"/>
              </a:ext>
            </a:extLst>
          </p:cNvPr>
          <p:cNvGraphicFramePr>
            <a:graphicFrameLocks noGrp="1"/>
          </p:cNvGraphicFramePr>
          <p:nvPr/>
        </p:nvGraphicFramePr>
        <p:xfrm>
          <a:off x="8193271" y="4898509"/>
          <a:ext cx="3702050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US" alt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S.Alekhya-2420030603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M. Rithika Reddy-242003068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B. Gnaneshwari-2420030781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Footer Placeholder 34">
            <a:extLst>
              <a:ext uri="{FF2B5EF4-FFF2-40B4-BE49-F238E27FC236}">
                <a16:creationId xmlns:a16="http://schemas.microsoft.com/office/drawing/2014/main" id="{C3F33FB7-9CAB-5F06-F03B-03E1A3DC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25" name="Date Placeholder 33">
            <a:extLst>
              <a:ext uri="{FF2B5EF4-FFF2-40B4-BE49-F238E27FC236}">
                <a16:creationId xmlns:a16="http://schemas.microsoft.com/office/drawing/2014/main" id="{C5EED8E6-748E-31FA-5397-C4003DFC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29" name="Slide Number Placeholder 35">
            <a:extLst>
              <a:ext uri="{FF2B5EF4-FFF2-40B4-BE49-F238E27FC236}">
                <a16:creationId xmlns:a16="http://schemas.microsoft.com/office/drawing/2014/main" id="{516008DB-A779-9687-67D2-D6CE47A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B402D26-E0F4-E91E-3EA9-D5B373D5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13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08E6-B1E1-B60B-41EB-B6F12F738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1797"/>
            <a:ext cx="9144000" cy="1138403"/>
          </a:xfrm>
        </p:spPr>
        <p:txBody>
          <a:bodyPr>
            <a:noAutofit/>
          </a:bodyPr>
          <a:lstStyle/>
          <a:p>
            <a:r>
              <a:rPr lang="en-IN" sz="4800" b="1">
                <a:ln w="0"/>
                <a:solidFill>
                  <a:srgbClr val="4472C4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Research Work</a:t>
            </a:r>
            <a:br>
              <a:rPr lang="en-IN" sz="4800" b="1">
                <a:ln w="0"/>
                <a:solidFill>
                  <a:srgbClr val="4472C4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A5516-EA89-A625-8DAF-89238DAA6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1"/>
              <a:t>Proposed Publication</a:t>
            </a:r>
          </a:p>
          <a:p>
            <a:r>
              <a:rPr lang="en-US" b="1"/>
              <a:t>Title:</a:t>
            </a:r>
            <a:br>
              <a:rPr lang="en-US"/>
            </a:br>
            <a:r>
              <a:rPr lang="en-US" i="1"/>
              <a:t>AccidentCascade AI: Predicting and Preventing Secondary Road Accidents Using Vehicle Interaction Intelligence</a:t>
            </a:r>
            <a:endParaRPr lang="en-US"/>
          </a:p>
          <a:p>
            <a:r>
              <a:rPr lang="en-US" b="1"/>
              <a:t>Area:</a:t>
            </a:r>
            <a:r>
              <a:rPr lang="en-US"/>
              <a:t> Intelligent Transportation Systems / Road Safety</a:t>
            </a:r>
          </a:p>
          <a:p>
            <a:r>
              <a:rPr lang="en-US" b="1"/>
              <a:t>Novelty:</a:t>
            </a:r>
            <a:br>
              <a:rPr lang="en-US"/>
            </a:br>
            <a:r>
              <a:rPr lang="en-US"/>
              <a:t>Real-time secondary accident prediction using </a:t>
            </a:r>
            <a:r>
              <a:rPr lang="en-US" b="1"/>
              <a:t>vehicle interaction intelligence + computer vision + Edge AI</a:t>
            </a:r>
            <a:r>
              <a:rPr lang="en-US"/>
              <a:t>.</a:t>
            </a:r>
          </a:p>
          <a:p>
            <a:r>
              <a:rPr lang="en-US" b="1"/>
              <a:t>Technologies:</a:t>
            </a:r>
            <a:br>
              <a:rPr lang="en-US"/>
            </a:br>
            <a:r>
              <a:rPr lang="en-US"/>
              <a:t>YOLOv11 | OpenCV | Kafka | Edge AI | SUMO | Digital Twin | Docker</a:t>
            </a:r>
          </a:p>
          <a:p>
            <a:r>
              <a:rPr lang="en-US" b="1"/>
              <a:t>Expected Impact:</a:t>
            </a:r>
            <a:br>
              <a:rPr lang="en-US"/>
            </a:br>
            <a:r>
              <a:rPr lang="en-US"/>
              <a:t>Reduced secondary collisions, faster warnings and improved emergency response.</a:t>
            </a:r>
          </a:p>
          <a:p>
            <a:r>
              <a:rPr lang="en-US" b="1"/>
              <a:t>SDGs:</a:t>
            </a:r>
            <a:br>
              <a:rPr lang="en-US"/>
            </a:br>
            <a:r>
              <a:rPr lang="en-US" b="1"/>
              <a:t>SDG 3</a:t>
            </a:r>
            <a:r>
              <a:rPr lang="en-US"/>
              <a:t> — Good Health &amp; Well-being</a:t>
            </a:r>
            <a:br>
              <a:rPr lang="en-US"/>
            </a:br>
            <a:r>
              <a:rPr lang="en-US" b="1"/>
              <a:t>SDG 11</a:t>
            </a:r>
            <a:r>
              <a:rPr lang="en-US"/>
              <a:t> — Sustainable Cities &amp; Communities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FD165D-8C16-62C0-E2D0-3A7A9CF5F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1780A60-6238-498A-6C6B-CE023E0F9D38}"/>
              </a:ext>
            </a:extLst>
          </p:cNvPr>
          <p:cNvGrpSpPr/>
          <p:nvPr/>
        </p:nvGrpSpPr>
        <p:grpSpPr>
          <a:xfrm>
            <a:off x="2867634" y="1382549"/>
            <a:ext cx="6784432" cy="4438977"/>
            <a:chOff x="1929643" y="1656655"/>
            <a:chExt cx="6784432" cy="44389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2445A1-0248-E51E-A918-A36DB4599C94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CFC24B-A136-8ED1-C28C-2410DFB2038A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61526C-F3BD-8B7A-EEA3-0D5AE080DDD9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F63167-EFBC-0FD9-516B-E0A85D837481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AE403F-0A3E-9D3C-EC24-33A315C09DCE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574F2A6-EF36-8E0A-2123-5E27B29C29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15" name="Content Placeholder 11">
              <a:extLst>
                <a:ext uri="{FF2B5EF4-FFF2-40B4-BE49-F238E27FC236}">
                  <a16:creationId xmlns:a16="http://schemas.microsoft.com/office/drawing/2014/main" id="{8A07713F-1B0A-C4D9-B8F9-EC99D13D3016}"/>
                </a:ext>
              </a:extLst>
            </p:cNvPr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Content Placeholder 11">
              <a:extLst>
                <a:ext uri="{FF2B5EF4-FFF2-40B4-BE49-F238E27FC236}">
                  <a16:creationId xmlns:a16="http://schemas.microsoft.com/office/drawing/2014/main" id="{D657C12E-819A-EAAE-6C42-6FB0682D3211}"/>
                </a:ext>
              </a:extLst>
            </p:cNvPr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60AA9B4A-DC70-E537-DFCC-78BDD09B46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3615B62-7BF1-2AB7-7F49-121C58482E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8EA55A11-B2A8-DA63-CA1E-B49E3C6D02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0EE0708-263A-E8EC-FE13-217F2F3BB0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C645FD59-BF95-7227-10B8-FA8363A758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D96C353-A402-4CD9-1127-1B70EB1B27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5229E58-5B6C-9F6A-609E-A18B7F70DF38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sp>
        <p:nvSpPr>
          <p:cNvPr id="29" name="Date Placeholder 33">
            <a:extLst>
              <a:ext uri="{FF2B5EF4-FFF2-40B4-BE49-F238E27FC236}">
                <a16:creationId xmlns:a16="http://schemas.microsoft.com/office/drawing/2014/main" id="{872A7829-C384-208B-0892-B1A5FCC3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33" name="Footer Placeholder 34">
            <a:extLst>
              <a:ext uri="{FF2B5EF4-FFF2-40B4-BE49-F238E27FC236}">
                <a16:creationId xmlns:a16="http://schemas.microsoft.com/office/drawing/2014/main" id="{9512A88C-DF56-B62D-C5D3-841B124A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34" name="Slide Number Placeholder 35">
            <a:extLst>
              <a:ext uri="{FF2B5EF4-FFF2-40B4-BE49-F238E27FC236}">
                <a16:creationId xmlns:a16="http://schemas.microsoft.com/office/drawing/2014/main" id="{86B12EF9-643E-9B53-00EB-2464ED7D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02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844D-79E6-D618-08A4-E2BF8698C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99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AA92-1F56-0BC4-FD43-2A5A0EC4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686"/>
            <a:ext cx="10515599" cy="4718277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Road accidents can cause secondary or chain-reaction collisions. </a:t>
            </a:r>
          </a:p>
          <a:p>
            <a:pPr lvl="0"/>
            <a:r>
              <a:rPr lang="en-US" sz="2400" dirty="0"/>
              <a:t>An initial accident may lead to sudden braking, lane blockage, debris, or unexpected lane changes. </a:t>
            </a:r>
          </a:p>
          <a:p>
            <a:pPr lvl="0"/>
            <a:r>
              <a:rPr lang="en-US" sz="2400" dirty="0"/>
              <a:t>Nearby drivers may have only a few seconds to react safely. </a:t>
            </a:r>
          </a:p>
          <a:p>
            <a:pPr lvl="0"/>
            <a:r>
              <a:rPr lang="en-US" sz="2400" dirty="0"/>
              <a:t>High speed, short distance, and heavy traffic increase secondary accident risk. </a:t>
            </a:r>
          </a:p>
          <a:p>
            <a:pPr lvl="0"/>
            <a:r>
              <a:rPr lang="en-US" sz="2400" dirty="0"/>
              <a:t>Most existing systems focus on detecting accidents after they happen. </a:t>
            </a:r>
          </a:p>
          <a:p>
            <a:pPr lvl="0"/>
            <a:r>
              <a:rPr lang="en-US" sz="2400" dirty="0"/>
              <a:t>Vehicle-to-vehicle interaction analysis can help predict risks earlier. </a:t>
            </a:r>
          </a:p>
          <a:p>
            <a:pPr lvl="0"/>
            <a:r>
              <a:rPr lang="en-US" sz="2400" dirty="0"/>
              <a:t>AI can monitor speed, distance, trajectory, braking, and movement in real time. </a:t>
            </a:r>
          </a:p>
          <a:p>
            <a:pPr lvl="0"/>
            <a:r>
              <a:rPr lang="en-US" sz="2400" dirty="0" err="1"/>
              <a:t>AccidentCascade</a:t>
            </a:r>
            <a:r>
              <a:rPr lang="en-US" sz="2400" dirty="0"/>
              <a:t> AI predicts secondary accident risk and provides early warnings.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14D13-83EE-5565-6032-9D42E94F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8" name="Date Placeholder 33">
            <a:extLst>
              <a:ext uri="{FF2B5EF4-FFF2-40B4-BE49-F238E27FC236}">
                <a16:creationId xmlns:a16="http://schemas.microsoft.com/office/drawing/2014/main" id="{120D8ABB-15CB-9CA7-41AF-FDB4172F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9" name="Footer Placeholder 34">
            <a:extLst>
              <a:ext uri="{FF2B5EF4-FFF2-40B4-BE49-F238E27FC236}">
                <a16:creationId xmlns:a16="http://schemas.microsoft.com/office/drawing/2014/main" id="{A615E47D-81C0-F5F1-B333-73BD1A54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10" name="Slide Number Placeholder 35">
            <a:extLst>
              <a:ext uri="{FF2B5EF4-FFF2-40B4-BE49-F238E27FC236}">
                <a16:creationId xmlns:a16="http://schemas.microsoft.com/office/drawing/2014/main" id="{C120ED80-F3AE-2BD8-37BE-8F7D68B1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06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556A-B38A-CC4A-B64A-6F96EBD50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085" y="238352"/>
            <a:ext cx="7445829" cy="771751"/>
          </a:xfrm>
        </p:spPr>
        <p:txBody>
          <a:bodyPr>
            <a:normAutofit/>
          </a:bodyPr>
          <a:lstStyle/>
          <a:p>
            <a:r>
              <a:rPr lang="en-US" sz="4400" b="1" dirty="0"/>
              <a:t>Problem Statement And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8DE14-0563-9ACC-BE04-D73E7CDF6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3886" y="1513114"/>
            <a:ext cx="9514114" cy="457199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Problem Statement</a:t>
            </a:r>
          </a:p>
          <a:p>
            <a:pPr algn="just"/>
            <a:r>
              <a:rPr lang="en-US" dirty="0"/>
              <a:t>Existing systems mainly focus on detecting accidents after they occur.</a:t>
            </a:r>
          </a:p>
          <a:p>
            <a:pPr algn="just"/>
            <a:r>
              <a:rPr lang="en-US" dirty="0"/>
              <a:t>They have limited ability to predict secondary accidents / chain reactions.</a:t>
            </a:r>
          </a:p>
          <a:p>
            <a:pPr algn="just"/>
            <a:r>
              <a:rPr lang="en-US" dirty="0"/>
              <a:t>Changing traffic conditions and complex vehicle interactions make early prediction difficult.</a:t>
            </a:r>
          </a:p>
          <a:p>
            <a:pPr algn="just"/>
            <a:r>
              <a:rPr lang="en-US" b="1" dirty="0"/>
              <a:t>Proposed Solution</a:t>
            </a:r>
          </a:p>
          <a:p>
            <a:pPr algn="just"/>
            <a:r>
              <a:rPr lang="en-US" dirty="0"/>
              <a:t>Use traffic video/data to detect and track vehicles.</a:t>
            </a:r>
          </a:p>
          <a:p>
            <a:pPr algn="just"/>
            <a:r>
              <a:rPr lang="en-US" dirty="0"/>
              <a:t>Extract speed, distance and trajectory information.</a:t>
            </a:r>
          </a:p>
          <a:p>
            <a:pPr algn="just"/>
            <a:r>
              <a:rPr lang="en-US" dirty="0" err="1"/>
              <a:t>Analyse</a:t>
            </a:r>
            <a:r>
              <a:rPr lang="en-US" dirty="0"/>
              <a:t> vehicle interactions to predict secondary accident risk.</a:t>
            </a:r>
          </a:p>
          <a:p>
            <a:pPr algn="just"/>
            <a:r>
              <a:rPr lang="en-US" dirty="0"/>
              <a:t>Generate a Cascade Risk Score and provide an early warning for high-risk situations.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3A9CD-8549-46A4-419F-9F88928B7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9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83D4-D73D-B5AC-C76A-FFC2A80EE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8711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+mn-lt"/>
              </a:rPr>
              <a:t>Focus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60577-2424-AE3F-EEF9-AF864A3ED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6484" y="1829967"/>
            <a:ext cx="10651958" cy="4153153"/>
          </a:xfrm>
        </p:spPr>
        <p:txBody>
          <a:bodyPr>
            <a:noAutofit/>
          </a:bodyPr>
          <a:lstStyle/>
          <a:p>
            <a:pPr algn="just"/>
            <a:r>
              <a:rPr lang="en-US" b="1" dirty="0"/>
              <a:t>Predicting and Preventing Secondary Road Accidents Using Vehicle Interaction Intelligence</a:t>
            </a:r>
            <a:endParaRPr lang="en-US" dirty="0"/>
          </a:p>
          <a:p>
            <a:pPr lvl="0" algn="just"/>
            <a:r>
              <a:rPr lang="en-US" b="1" dirty="0"/>
              <a:t>Domain:</a:t>
            </a:r>
            <a:r>
              <a:rPr lang="en-US" dirty="0"/>
              <a:t> Intelligent Transportation &amp; Road Safety </a:t>
            </a:r>
          </a:p>
          <a:p>
            <a:pPr lvl="0" algn="just"/>
            <a:r>
              <a:rPr lang="en-US" b="1" dirty="0"/>
              <a:t>Core Technologies:</a:t>
            </a:r>
            <a:r>
              <a:rPr lang="en-US" dirty="0"/>
              <a:t> YOLOv11, OpenCV, Edge AI, Kafka, SUMO, Digital Twin, Docker </a:t>
            </a:r>
          </a:p>
          <a:p>
            <a:pPr lvl="0" algn="just"/>
            <a:r>
              <a:rPr lang="en-US" b="1" dirty="0"/>
              <a:t>Focus:</a:t>
            </a:r>
            <a:r>
              <a:rPr lang="en-US" dirty="0"/>
              <a:t> Real-time prediction of secondary/chain-reaction accidents </a:t>
            </a:r>
          </a:p>
          <a:p>
            <a:pPr lvl="0" algn="just"/>
            <a:r>
              <a:rPr lang="en-US" b="1" dirty="0"/>
              <a:t>Goal:</a:t>
            </a:r>
            <a:r>
              <a:rPr lang="en-US" dirty="0"/>
              <a:t> Detect → Analyze → Predict → Warn → Prevent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9BAAF-1989-1881-2C00-5F7890807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Date Placeholder 33">
            <a:extLst>
              <a:ext uri="{FF2B5EF4-FFF2-40B4-BE49-F238E27FC236}">
                <a16:creationId xmlns:a16="http://schemas.microsoft.com/office/drawing/2014/main" id="{FC9F4D3A-2DF8-434B-69E7-72A63353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7" name="Footer Placeholder 34">
            <a:extLst>
              <a:ext uri="{FF2B5EF4-FFF2-40B4-BE49-F238E27FC236}">
                <a16:creationId xmlns:a16="http://schemas.microsoft.com/office/drawing/2014/main" id="{D59B948F-3355-FE5C-DF1E-31E8A0C6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8" name="Slide Number Placeholder 35">
            <a:extLst>
              <a:ext uri="{FF2B5EF4-FFF2-40B4-BE49-F238E27FC236}">
                <a16:creationId xmlns:a16="http://schemas.microsoft.com/office/drawing/2014/main" id="{8B481563-AC18-F4CB-23F6-CF0D6681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97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E346-FC66-7486-C028-3B0EDE5C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104191-3E8B-9235-F4D8-7F6898776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07118"/>
              </p:ext>
            </p:extLst>
          </p:nvPr>
        </p:nvGraphicFramePr>
        <p:xfrm>
          <a:off x="838199" y="1389255"/>
          <a:ext cx="10872536" cy="506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6075">
                  <a:extLst>
                    <a:ext uri="{9D8B030D-6E8A-4147-A177-3AD203B41FA5}">
                      <a16:colId xmlns:a16="http://schemas.microsoft.com/office/drawing/2014/main" val="2425863558"/>
                    </a:ext>
                  </a:extLst>
                </a:gridCol>
                <a:gridCol w="2727158">
                  <a:extLst>
                    <a:ext uri="{9D8B030D-6E8A-4147-A177-3AD203B41FA5}">
                      <a16:colId xmlns:a16="http://schemas.microsoft.com/office/drawing/2014/main" val="4146509219"/>
                    </a:ext>
                  </a:extLst>
                </a:gridCol>
                <a:gridCol w="2550694">
                  <a:extLst>
                    <a:ext uri="{9D8B030D-6E8A-4147-A177-3AD203B41FA5}">
                      <a16:colId xmlns:a16="http://schemas.microsoft.com/office/drawing/2014/main" val="2040187738"/>
                    </a:ext>
                  </a:extLst>
                </a:gridCol>
                <a:gridCol w="2518609">
                  <a:extLst>
                    <a:ext uri="{9D8B030D-6E8A-4147-A177-3AD203B41FA5}">
                      <a16:colId xmlns:a16="http://schemas.microsoft.com/office/drawing/2014/main" val="4258046859"/>
                    </a:ext>
                  </a:extLst>
                </a:gridCol>
              </a:tblGrid>
              <a:tr h="648092"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Drawback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840631"/>
                  </a:ext>
                </a:extLst>
              </a:tr>
              <a:tr h="1020724">
                <a:tc>
                  <a:txBody>
                    <a:bodyPr/>
                    <a:lstStyle/>
                    <a:p>
                      <a:r>
                        <a:rPr lang="en-US" dirty="0"/>
                        <a:t>A Hybrid Machine Learning Model for Predicting Real-Time Secondary Crash 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https://doi.org/10.1016/j.aap.2021.106504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Relies mainly on traffic and crash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Incorporate real-time vehicle-level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763722"/>
                  </a:ext>
                </a:extLst>
              </a:tr>
              <a:tr h="1020724">
                <a:tc>
                  <a:txBody>
                    <a:bodyPr/>
                    <a:lstStyle/>
                    <a:p>
                      <a:r>
                        <a:rPr lang="en-US" dirty="0"/>
                        <a:t>Modeling When and Where a Secondary Accident Occurs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https://doi.org/10.1016/j.aap.2018.01.024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vehicle-level interaction analysis.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real-time vehicle trajectories.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80885"/>
                  </a:ext>
                </a:extLst>
              </a:tr>
              <a:tr h="1020724">
                <a:tc>
                  <a:txBody>
                    <a:bodyPr/>
                    <a:lstStyle/>
                    <a:p>
                      <a:r>
                        <a:rPr lang="en-US" dirty="0"/>
                        <a:t>Real-Time Prediction and Avoidance of Secondary Crashes Under Unexpected Traffic Congestion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https://doi.org/10.1016/j.aap.2017.11.025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Focuses mainly on traffic conditions.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 improved real-time warning systems.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94140"/>
                  </a:ext>
                </a:extLst>
              </a:tr>
              <a:tr h="1020724">
                <a:tc>
                  <a:txBody>
                    <a:bodyPr/>
                    <a:lstStyle/>
                    <a:p>
                      <a:r>
                        <a:rPr lang="en-US" dirty="0"/>
                        <a:t>Spatial and Temporal Prediction of Secondary Crashes Using Stacked Sparse Auto-Encoder and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https://doi.org/10.1016/j.aap.2023.107205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mainly aggregated traffic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 detailed vehicle behavior and trajectories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80311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E40D991-8393-A6B9-BE64-34CFED667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Date Placeholder 33">
            <a:extLst>
              <a:ext uri="{FF2B5EF4-FFF2-40B4-BE49-F238E27FC236}">
                <a16:creationId xmlns:a16="http://schemas.microsoft.com/office/drawing/2014/main" id="{6383CB7B-145D-3F85-C63E-6D9E0867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7" name="Footer Placeholder 34">
            <a:extLst>
              <a:ext uri="{FF2B5EF4-FFF2-40B4-BE49-F238E27FC236}">
                <a16:creationId xmlns:a16="http://schemas.microsoft.com/office/drawing/2014/main" id="{1A9B54EB-314D-F8D8-9299-642BB8A18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8" name="Slide Number Placeholder 35">
            <a:extLst>
              <a:ext uri="{FF2B5EF4-FFF2-40B4-BE49-F238E27FC236}">
                <a16:creationId xmlns:a16="http://schemas.microsoft.com/office/drawing/2014/main" id="{C8614374-C325-8175-1F0F-03B94598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558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D1DE-B47D-9B42-D54B-470A59657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7095"/>
            <a:ext cx="9144000" cy="673768"/>
          </a:xfrm>
        </p:spPr>
        <p:txBody>
          <a:bodyPr>
            <a:normAutofit fontScale="90000"/>
          </a:bodyPr>
          <a:lstStyle/>
          <a:p>
            <a:r>
              <a:rPr lang="en-US" sz="5300" b="1" dirty="0">
                <a:latin typeface="+mn-lt"/>
              </a:rPr>
              <a:t>Challenges</a:t>
            </a:r>
            <a:endParaRPr lang="en-US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5D803-514B-D4A2-1BEC-E44F14882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526" y="1732547"/>
            <a:ext cx="10347158" cy="512545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Major Challenges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Real-time prediction:</a:t>
            </a:r>
            <a:r>
              <a:rPr lang="en-US" sz="2000" dirty="0"/>
              <a:t> Risk must be identified within seconds.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Complex interactions:</a:t>
            </a:r>
            <a:r>
              <a:rPr lang="en-US" sz="2000" dirty="0"/>
              <a:t> Multiple vehicles react differently to an accident.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Limited vehicle-level information:</a:t>
            </a:r>
            <a:r>
              <a:rPr lang="en-US" sz="2000" dirty="0"/>
              <a:t> Traditional systems depend heavily on traffic-flow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Dynamic conditions:</a:t>
            </a:r>
            <a:r>
              <a:rPr lang="en-US" sz="2000" dirty="0"/>
              <a:t> Speed, traffic density, lane blockage and weather can change rapidly.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Low latency:</a:t>
            </a:r>
            <a:r>
              <a:rPr lang="en-US" sz="2000" dirty="0"/>
              <a:t> Delayed prediction reduces the usefulness of warnings.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Safe testing:</a:t>
            </a:r>
            <a:r>
              <a:rPr lang="en-US" sz="2000" dirty="0"/>
              <a:t> Real accident scenarios cannot be repeatedly tested on actual roads.</a:t>
            </a:r>
          </a:p>
          <a:p>
            <a:pPr algn="just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EF9DB-147D-8D07-C22E-5245921D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Date Placeholder 33">
            <a:extLst>
              <a:ext uri="{FF2B5EF4-FFF2-40B4-BE49-F238E27FC236}">
                <a16:creationId xmlns:a16="http://schemas.microsoft.com/office/drawing/2014/main" id="{BC702DA6-F87E-BCE1-A7A6-CF2CF719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7" name="Footer Placeholder 34">
            <a:extLst>
              <a:ext uri="{FF2B5EF4-FFF2-40B4-BE49-F238E27FC236}">
                <a16:creationId xmlns:a16="http://schemas.microsoft.com/office/drawing/2014/main" id="{667C76DC-6577-5560-06F5-4C6DC221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8" name="Slide Number Placeholder 35">
            <a:extLst>
              <a:ext uri="{FF2B5EF4-FFF2-40B4-BE49-F238E27FC236}">
                <a16:creationId xmlns:a16="http://schemas.microsoft.com/office/drawing/2014/main" id="{D54A4E29-2B91-1A1E-D42B-42ADB083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52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BF95-BD3E-D837-9B99-9FDDE6675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3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+mn-lt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D504-D96A-CD9A-4714-92F136884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621"/>
            <a:ext cx="10515600" cy="4797342"/>
          </a:xfrm>
        </p:spPr>
        <p:txBody>
          <a:bodyPr>
            <a:normAutofit/>
          </a:bodyPr>
          <a:lstStyle/>
          <a:p>
            <a:pPr lvl="0"/>
            <a:r>
              <a:rPr lang="en-US" sz="2400" b="1" dirty="0"/>
              <a:t>Detect and track</a:t>
            </a:r>
            <a:r>
              <a:rPr lang="en-US" sz="2400" dirty="0"/>
              <a:t> vehicles and road hazards in real time. </a:t>
            </a:r>
          </a:p>
          <a:p>
            <a:pPr lvl="0"/>
            <a:r>
              <a:rPr lang="en-US" sz="2400" b="1" dirty="0"/>
              <a:t>Analyze</a:t>
            </a:r>
            <a:r>
              <a:rPr lang="en-US" sz="2400" dirty="0"/>
              <a:t> speed, distance, trajectory and vehicle interactions. </a:t>
            </a:r>
          </a:p>
          <a:p>
            <a:pPr lvl="0"/>
            <a:r>
              <a:rPr lang="en-US" sz="2400" b="1" dirty="0"/>
              <a:t>Identify</a:t>
            </a:r>
            <a:r>
              <a:rPr lang="en-US" sz="2400" dirty="0"/>
              <a:t> dangerous behavior such as sudden braking and lane blockage. </a:t>
            </a:r>
          </a:p>
          <a:p>
            <a:pPr lvl="0"/>
            <a:r>
              <a:rPr lang="en-US" sz="2400" b="1" dirty="0"/>
              <a:t>Predict</a:t>
            </a:r>
            <a:r>
              <a:rPr lang="en-US" sz="2400" dirty="0"/>
              <a:t> the probability of secondary accidents. </a:t>
            </a:r>
          </a:p>
          <a:p>
            <a:pPr lvl="0"/>
            <a:r>
              <a:rPr lang="en-US" sz="2400" b="1" dirty="0"/>
              <a:t>Generate</a:t>
            </a:r>
            <a:r>
              <a:rPr lang="en-US" sz="2400" dirty="0"/>
              <a:t> a real-time Cascade Risk Score. </a:t>
            </a:r>
          </a:p>
          <a:p>
            <a:pPr lvl="0"/>
            <a:r>
              <a:rPr lang="en-US" sz="2400" b="1" dirty="0"/>
              <a:t>Provide</a:t>
            </a:r>
            <a:r>
              <a:rPr lang="en-US" sz="2400" dirty="0"/>
              <a:t> early warnings to reduce chain-reaction collisions. </a:t>
            </a:r>
          </a:p>
          <a:p>
            <a:pPr lvl="0"/>
            <a:r>
              <a:rPr lang="en-US" sz="2400" b="1" dirty="0"/>
              <a:t>Validate</a:t>
            </a:r>
            <a:r>
              <a:rPr lang="en-US" sz="2400" dirty="0"/>
              <a:t> the system using SUMO and Digital Twin simulation.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4C134-6908-5E76-9B73-177B72240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8" name="Date Placeholder 33">
            <a:extLst>
              <a:ext uri="{FF2B5EF4-FFF2-40B4-BE49-F238E27FC236}">
                <a16:creationId xmlns:a16="http://schemas.microsoft.com/office/drawing/2014/main" id="{AEE99FE6-D281-FB03-E309-02B6356A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9" name="Footer Placeholder 34">
            <a:extLst>
              <a:ext uri="{FF2B5EF4-FFF2-40B4-BE49-F238E27FC236}">
                <a16:creationId xmlns:a16="http://schemas.microsoft.com/office/drawing/2014/main" id="{0F9B9DD8-B80D-1BBC-0823-469BDA67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10" name="Slide Number Placeholder 35">
            <a:extLst>
              <a:ext uri="{FF2B5EF4-FFF2-40B4-BE49-F238E27FC236}">
                <a16:creationId xmlns:a16="http://schemas.microsoft.com/office/drawing/2014/main" id="{CFE15F64-E929-DAD4-26EC-751DCDAA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72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0FC3-A199-BEBA-4E75-37A11EF2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229435"/>
            <a:ext cx="10515600" cy="935389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Proposed Method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02C75D-E34F-4318-AB3B-6CD8B42D019A}"/>
              </a:ext>
            </a:extLst>
          </p:cNvPr>
          <p:cNvSpPr/>
          <p:nvPr/>
        </p:nvSpPr>
        <p:spPr>
          <a:xfrm>
            <a:off x="838200" y="1807029"/>
            <a:ext cx="2209800" cy="816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 / CCTV Video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0F3AD3-73EB-FB26-0996-F02895292712}"/>
              </a:ext>
            </a:extLst>
          </p:cNvPr>
          <p:cNvSpPr/>
          <p:nvPr/>
        </p:nvSpPr>
        <p:spPr>
          <a:xfrm>
            <a:off x="8361948" y="4350834"/>
            <a:ext cx="2209800" cy="8164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🚨 </a:t>
            </a:r>
            <a:r>
              <a:rPr lang="en-US" b="1" dirty="0"/>
              <a:t>Early Warning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3D337E-9166-B9C3-1AF3-2F8F04324CEB}"/>
              </a:ext>
            </a:extLst>
          </p:cNvPr>
          <p:cNvSpPr/>
          <p:nvPr/>
        </p:nvSpPr>
        <p:spPr>
          <a:xfrm>
            <a:off x="8361948" y="1807029"/>
            <a:ext cx="2209800" cy="8164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OpenCV Vehicle Tracking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9E4B1A-074C-1BC5-5E41-61755C854748}"/>
              </a:ext>
            </a:extLst>
          </p:cNvPr>
          <p:cNvSpPr/>
          <p:nvPr/>
        </p:nvSpPr>
        <p:spPr>
          <a:xfrm>
            <a:off x="4600074" y="3059851"/>
            <a:ext cx="2209800" cy="816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Vehicle Interaction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384E83-A986-5FD2-73D9-B813E2A51177}"/>
              </a:ext>
            </a:extLst>
          </p:cNvPr>
          <p:cNvSpPr/>
          <p:nvPr/>
        </p:nvSpPr>
        <p:spPr>
          <a:xfrm>
            <a:off x="8361948" y="3058834"/>
            <a:ext cx="2209800" cy="81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Trajectory &amp; Feature Extraction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6FCB70-620D-4F5F-ECBA-090B5F2310DA}"/>
              </a:ext>
            </a:extLst>
          </p:cNvPr>
          <p:cNvSpPr/>
          <p:nvPr/>
        </p:nvSpPr>
        <p:spPr>
          <a:xfrm>
            <a:off x="838199" y="3058833"/>
            <a:ext cx="2209799" cy="8164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Accident / Hazard Detection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2CAB16-4243-A174-8903-5D56E6309E69}"/>
              </a:ext>
            </a:extLst>
          </p:cNvPr>
          <p:cNvSpPr/>
          <p:nvPr/>
        </p:nvSpPr>
        <p:spPr>
          <a:xfrm>
            <a:off x="4600074" y="1817813"/>
            <a:ext cx="2209800" cy="816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YOLOv11 Object Detection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FDC535-6CEC-F7BC-6B65-4BE8D0B10DD7}"/>
              </a:ext>
            </a:extLst>
          </p:cNvPr>
          <p:cNvSpPr txBox="1"/>
          <p:nvPr/>
        </p:nvSpPr>
        <p:spPr>
          <a:xfrm>
            <a:off x="1066800" y="13648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System Workflow: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44A839-FF2E-CFA3-FFEE-F38C820D1EE6}"/>
              </a:ext>
            </a:extLst>
          </p:cNvPr>
          <p:cNvSpPr/>
          <p:nvPr/>
        </p:nvSpPr>
        <p:spPr>
          <a:xfrm>
            <a:off x="838198" y="4299848"/>
            <a:ext cx="2209800" cy="816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Secondary Accident Prediction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75EDF5-C187-E200-691A-C87C1AC0CEFD}"/>
              </a:ext>
            </a:extLst>
          </p:cNvPr>
          <p:cNvSpPr/>
          <p:nvPr/>
        </p:nvSpPr>
        <p:spPr>
          <a:xfrm>
            <a:off x="4600074" y="4350833"/>
            <a:ext cx="2209800" cy="816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Cascade Risk Score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DB4CF41-6486-E68D-DC78-F4A5D766F197}"/>
              </a:ext>
            </a:extLst>
          </p:cNvPr>
          <p:cNvSpPr/>
          <p:nvPr/>
        </p:nvSpPr>
        <p:spPr>
          <a:xfrm>
            <a:off x="3047998" y="2155371"/>
            <a:ext cx="1552076" cy="2210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A135EDE-2343-E55C-1A97-89AD82959959}"/>
              </a:ext>
            </a:extLst>
          </p:cNvPr>
          <p:cNvSpPr/>
          <p:nvPr/>
        </p:nvSpPr>
        <p:spPr>
          <a:xfrm>
            <a:off x="6809874" y="2155371"/>
            <a:ext cx="1552074" cy="2210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F57BC72-518C-1807-E5B4-36DBDEC7568C}"/>
              </a:ext>
            </a:extLst>
          </p:cNvPr>
          <p:cNvSpPr/>
          <p:nvPr/>
        </p:nvSpPr>
        <p:spPr>
          <a:xfrm rot="10800000">
            <a:off x="3047998" y="3357557"/>
            <a:ext cx="1552076" cy="2210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E2A62E6-1A75-CD91-6216-F4CA379B82B3}"/>
              </a:ext>
            </a:extLst>
          </p:cNvPr>
          <p:cNvSpPr/>
          <p:nvPr/>
        </p:nvSpPr>
        <p:spPr>
          <a:xfrm>
            <a:off x="6809872" y="4648539"/>
            <a:ext cx="1552076" cy="2210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73E21E2-DF67-3A61-E36D-81361843AC61}"/>
              </a:ext>
            </a:extLst>
          </p:cNvPr>
          <p:cNvSpPr/>
          <p:nvPr/>
        </p:nvSpPr>
        <p:spPr>
          <a:xfrm>
            <a:off x="3047998" y="4654795"/>
            <a:ext cx="1552076" cy="2210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05943100-B7C4-23BC-4DB8-87424F8C1BE3}"/>
              </a:ext>
            </a:extLst>
          </p:cNvPr>
          <p:cNvSpPr/>
          <p:nvPr/>
        </p:nvSpPr>
        <p:spPr>
          <a:xfrm rot="10800000">
            <a:off x="6809872" y="3381641"/>
            <a:ext cx="1552076" cy="2210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821C222B-F781-5E68-BDE3-DEBF45E24C09}"/>
              </a:ext>
            </a:extLst>
          </p:cNvPr>
          <p:cNvSpPr/>
          <p:nvPr/>
        </p:nvSpPr>
        <p:spPr>
          <a:xfrm>
            <a:off x="9383486" y="2634292"/>
            <a:ext cx="83362" cy="42454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EB9ECF7A-C98B-CF73-924E-3E4C8F759612}"/>
              </a:ext>
            </a:extLst>
          </p:cNvPr>
          <p:cNvSpPr/>
          <p:nvPr/>
        </p:nvSpPr>
        <p:spPr>
          <a:xfrm>
            <a:off x="1856154" y="3875310"/>
            <a:ext cx="83362" cy="42454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A142AB5-FC0F-6951-ABEA-1FF50D0A7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4" name="Date Placeholder 33">
            <a:extLst>
              <a:ext uri="{FF2B5EF4-FFF2-40B4-BE49-F238E27FC236}">
                <a16:creationId xmlns:a16="http://schemas.microsoft.com/office/drawing/2014/main" id="{6AEFFCDC-3042-4D64-DB00-2A769768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7236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45" name="Footer Placeholder 34">
            <a:extLst>
              <a:ext uri="{FF2B5EF4-FFF2-40B4-BE49-F238E27FC236}">
                <a16:creationId xmlns:a16="http://schemas.microsoft.com/office/drawing/2014/main" id="{B750DCD8-204A-0823-EA40-7B58E599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46" name="Slide Number Placeholder 35">
            <a:extLst>
              <a:ext uri="{FF2B5EF4-FFF2-40B4-BE49-F238E27FC236}">
                <a16:creationId xmlns:a16="http://schemas.microsoft.com/office/drawing/2014/main" id="{ACBF3483-7806-D9C1-7CC1-D706EB03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92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115B1-8511-7C98-AD27-518B1B80B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2126" y="457200"/>
            <a:ext cx="8807116" cy="477837"/>
          </a:xfrm>
        </p:spPr>
        <p:txBody>
          <a:bodyPr>
            <a:noAutofit/>
          </a:bodyPr>
          <a:lstStyle/>
          <a:p>
            <a:r>
              <a:rPr lang="en-US" sz="4800" b="1" dirty="0"/>
              <a:t>Conclusion &amp; Future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F26F8-3F10-347B-54E2-BEF621FB3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463" y="1151146"/>
            <a:ext cx="10315074" cy="4989095"/>
          </a:xfrm>
        </p:spPr>
        <p:txBody>
          <a:bodyPr>
            <a:noAutofit/>
          </a:bodyPr>
          <a:lstStyle/>
          <a:p>
            <a:pPr algn="just"/>
            <a:r>
              <a:rPr lang="en-US" sz="2600" b="1" dirty="0"/>
              <a:t>Conclusion</a:t>
            </a:r>
          </a:p>
          <a:p>
            <a:pPr lvl="0" algn="just"/>
            <a:r>
              <a:rPr lang="en-US" sz="2000" dirty="0" err="1"/>
              <a:t>AccidentCascade</a:t>
            </a:r>
            <a:r>
              <a:rPr lang="en-US" sz="2000" dirty="0"/>
              <a:t> AI provides a predictive</a:t>
            </a:r>
            <a:r>
              <a:rPr lang="en-US" sz="2000" b="1" dirty="0"/>
              <a:t> </a:t>
            </a:r>
            <a:r>
              <a:rPr lang="en-US" sz="2000" dirty="0"/>
              <a:t>approach to road safety. </a:t>
            </a:r>
          </a:p>
          <a:p>
            <a:pPr lvl="0" algn="just"/>
            <a:r>
              <a:rPr lang="en-US" sz="2000" dirty="0"/>
              <a:t>It focuses on the interaction between vehicles after an initial accident. </a:t>
            </a:r>
          </a:p>
          <a:p>
            <a:pPr lvl="0" algn="just"/>
            <a:r>
              <a:rPr lang="en-US" sz="2000" dirty="0"/>
              <a:t>AI-based risk prediction can identify vehicles that are likely to be involved in a secondary collision. </a:t>
            </a:r>
          </a:p>
          <a:p>
            <a:pPr lvl="0" algn="just"/>
            <a:r>
              <a:rPr lang="en-US" sz="2000" dirty="0"/>
              <a:t>Early warnings can help reduce chain-reaction</a:t>
            </a:r>
            <a:r>
              <a:rPr lang="en-US" sz="2000" b="1" dirty="0"/>
              <a:t> </a:t>
            </a:r>
            <a:r>
              <a:rPr lang="en-US" sz="2000" dirty="0"/>
              <a:t>accidents and improve emergency response. </a:t>
            </a:r>
          </a:p>
          <a:p>
            <a:pPr algn="just"/>
            <a:r>
              <a:rPr lang="en-US" sz="2600" b="1" dirty="0"/>
              <a:t>Future Work</a:t>
            </a:r>
          </a:p>
          <a:p>
            <a:pPr lvl="0" algn="just"/>
            <a:r>
              <a:rPr lang="en-US" sz="2000" dirty="0"/>
              <a:t>V2V / V2X communication </a:t>
            </a:r>
          </a:p>
          <a:p>
            <a:pPr lvl="0" algn="just"/>
            <a:r>
              <a:rPr lang="en-US" sz="2000" dirty="0"/>
              <a:t>Multi-camera vehicle tracking </a:t>
            </a:r>
          </a:p>
          <a:p>
            <a:pPr lvl="0" algn="just"/>
            <a:r>
              <a:rPr lang="en-US" sz="2000" dirty="0"/>
              <a:t>Weather-aware prediction </a:t>
            </a:r>
          </a:p>
          <a:p>
            <a:pPr lvl="0" algn="just"/>
            <a:r>
              <a:rPr lang="en-US" sz="2000" dirty="0"/>
              <a:t>Smart traffic signal integration </a:t>
            </a:r>
          </a:p>
          <a:p>
            <a:pPr lvl="0" algn="just"/>
            <a:r>
              <a:rPr lang="en-US" sz="2000" dirty="0"/>
              <a:t>Emergency-response integration </a:t>
            </a:r>
          </a:p>
          <a:p>
            <a:pPr lvl="0" algn="just"/>
            <a:r>
              <a:rPr lang="en-US" sz="2000" dirty="0"/>
              <a:t>Autonomous vehicle integration </a:t>
            </a:r>
          </a:p>
          <a:p>
            <a:pPr lvl="0" algn="just"/>
            <a:r>
              <a:rPr lang="en-US" sz="2000" dirty="0"/>
              <a:t>City-scale Digital Twin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FAD05-6F8D-2FE8-5CC9-0ADAC7929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Date Placeholder 33">
            <a:extLst>
              <a:ext uri="{FF2B5EF4-FFF2-40B4-BE49-F238E27FC236}">
                <a16:creationId xmlns:a16="http://schemas.microsoft.com/office/drawing/2014/main" id="{BEDF28A1-486B-E489-3DF6-0998D509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7" name="Slide Number Placeholder 35">
            <a:extLst>
              <a:ext uri="{FF2B5EF4-FFF2-40B4-BE49-F238E27FC236}">
                <a16:creationId xmlns:a16="http://schemas.microsoft.com/office/drawing/2014/main" id="{CD09ED13-DEFE-49A2-5875-7FD3E8B9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60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BB4F-5231-0C38-225A-1F7B4C9BB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453" y="208546"/>
            <a:ext cx="9144000" cy="862263"/>
          </a:xfrm>
        </p:spPr>
        <p:txBody>
          <a:bodyPr>
            <a:normAutofit/>
          </a:bodyPr>
          <a:lstStyle/>
          <a:p>
            <a:r>
              <a:rPr lang="en-US" sz="4800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2D6A5-5E6A-7114-2F6F-EF65D0DC2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737" y="1411705"/>
            <a:ext cx="10491537" cy="4989095"/>
          </a:xfrm>
        </p:spPr>
        <p:txBody>
          <a:bodyPr>
            <a:normAutofit/>
          </a:bodyPr>
          <a:lstStyle/>
          <a:p>
            <a:pPr lvl="0" algn="just"/>
            <a:r>
              <a:rPr lang="en-US" sz="2000" b="1" dirty="0"/>
              <a:t>Li, P., &amp; Abdel-</a:t>
            </a:r>
            <a:r>
              <a:rPr lang="en-US" sz="2000" b="1" dirty="0" err="1"/>
              <a:t>Aty</a:t>
            </a:r>
            <a:r>
              <a:rPr lang="en-US" sz="2000" b="1" dirty="0"/>
              <a:t>, M.</a:t>
            </a:r>
            <a:r>
              <a:rPr lang="en-US" sz="2000" dirty="0"/>
              <a:t>, “A Hybrid Machine Learning Model for Predicting Real-Time Secondary Crash Likelihood,” </a:t>
            </a:r>
            <a:r>
              <a:rPr lang="en-US" sz="2000" i="1" dirty="0"/>
              <a:t>Accident Analysis &amp; Prevention</a:t>
            </a:r>
            <a:r>
              <a:rPr lang="en-US" sz="2000" dirty="0"/>
              <a:t>, 2022. DOI / Paper </a:t>
            </a:r>
          </a:p>
          <a:p>
            <a:pPr lvl="0" algn="just"/>
            <a:r>
              <a:rPr lang="en-US" sz="2000" b="1" dirty="0"/>
              <a:t>Wang, J., Liu, B., Fu, T., Liu, S., &amp; </a:t>
            </a:r>
            <a:r>
              <a:rPr lang="en-US" sz="2000" b="1" dirty="0" err="1"/>
              <a:t>Stipancic</a:t>
            </a:r>
            <a:r>
              <a:rPr lang="en-US" sz="2000" b="1" dirty="0"/>
              <a:t>, J.</a:t>
            </a:r>
            <a:r>
              <a:rPr lang="en-US" sz="2000" dirty="0"/>
              <a:t>, “Modeling When and Where a Secondary Accident Occurs,” </a:t>
            </a:r>
            <a:r>
              <a:rPr lang="en-US" sz="2000" i="1" dirty="0"/>
              <a:t>Accident Analysis &amp; Prevention</a:t>
            </a:r>
            <a:r>
              <a:rPr lang="en-US" sz="2000" dirty="0"/>
              <a:t>, 2019. DOI / Paper </a:t>
            </a:r>
          </a:p>
          <a:p>
            <a:pPr lvl="0" algn="just"/>
            <a:r>
              <a:rPr lang="en-US" sz="2000" b="1" dirty="0"/>
              <a:t>Park, H., Haghani, A., Samuel, S., &amp; </a:t>
            </a:r>
            <a:r>
              <a:rPr lang="en-US" sz="2000" b="1" dirty="0" err="1"/>
              <a:t>Knodler</a:t>
            </a:r>
            <a:r>
              <a:rPr lang="en-US" sz="2000" b="1" dirty="0"/>
              <a:t>, M. A.</a:t>
            </a:r>
            <a:r>
              <a:rPr lang="en-US" sz="2000" dirty="0"/>
              <a:t>, “Real-Time Prediction and Avoidance of Secondary Crashes Under Unexpected Traffic Congestion,” </a:t>
            </a:r>
            <a:r>
              <a:rPr lang="en-US" sz="2000" i="1" dirty="0"/>
              <a:t>Accident Analysis &amp; Prevention</a:t>
            </a:r>
            <a:r>
              <a:rPr lang="en-US" sz="2000" dirty="0"/>
              <a:t>, 2018. DOI / Paper </a:t>
            </a:r>
          </a:p>
          <a:p>
            <a:pPr lvl="0" algn="just"/>
            <a:r>
              <a:rPr lang="en-US" sz="2000" b="1" dirty="0"/>
              <a:t>Li, H., et al.</a:t>
            </a:r>
            <a:r>
              <a:rPr lang="en-US" sz="2000" dirty="0"/>
              <a:t>, “Spatial and Temporal Prediction of Secondary Crashes Combining Stacked Sparse Auto-Encoder and Long Short-Term Memory,” </a:t>
            </a:r>
            <a:r>
              <a:rPr lang="en-US" sz="2000" i="1" dirty="0"/>
              <a:t>Accident Analysis &amp; Prevention</a:t>
            </a:r>
            <a:r>
              <a:rPr lang="en-US" sz="2000" dirty="0"/>
              <a:t>, 2023. DOI /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7B3FE-4C5E-51ED-A802-B9CADF71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Date Placeholder 33">
            <a:extLst>
              <a:ext uri="{FF2B5EF4-FFF2-40B4-BE49-F238E27FC236}">
                <a16:creationId xmlns:a16="http://schemas.microsoft.com/office/drawing/2014/main" id="{40EE7759-FA7D-88DF-5CED-CE2E68A2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7" name="Slide Number Placeholder 35">
            <a:extLst>
              <a:ext uri="{FF2B5EF4-FFF2-40B4-BE49-F238E27FC236}">
                <a16:creationId xmlns:a16="http://schemas.microsoft.com/office/drawing/2014/main" id="{5C79C910-6B8A-7C23-A2DD-15B278CC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22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5A5-3FF8-C9E6-950A-142570F4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979" y="184485"/>
            <a:ext cx="4808621" cy="1325563"/>
          </a:xfrm>
        </p:spPr>
        <p:txBody>
          <a:bodyPr/>
          <a:lstStyle/>
          <a:p>
            <a:r>
              <a:rPr lang="en-US" b="1" dirty="0"/>
              <a:t>Publications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97225-6DC3-0C81-36B9-777721720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389" y="1510049"/>
            <a:ext cx="10367211" cy="4846302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Proposed Publication</a:t>
            </a:r>
          </a:p>
          <a:p>
            <a:r>
              <a:rPr lang="en-US" sz="2000" b="1" dirty="0"/>
              <a:t>Title:</a:t>
            </a:r>
            <a:br>
              <a:rPr lang="en-US" sz="2000" dirty="0"/>
            </a:br>
            <a:r>
              <a:rPr lang="en-US" sz="2000" i="1" dirty="0" err="1"/>
              <a:t>AccidentCascade</a:t>
            </a:r>
            <a:r>
              <a:rPr lang="en-US" sz="2000" i="1" dirty="0"/>
              <a:t> AI: Predicting and Preventing Secondary Road Accidents Using Vehicle Interaction Intelligence</a:t>
            </a:r>
            <a:endParaRPr lang="en-US" sz="2000" dirty="0"/>
          </a:p>
          <a:p>
            <a:r>
              <a:rPr lang="en-US" sz="2000" b="1" dirty="0"/>
              <a:t>Area:</a:t>
            </a:r>
            <a:r>
              <a:rPr lang="en-US" sz="2000" dirty="0"/>
              <a:t> Intelligent Transportation Systems / Road Safety</a:t>
            </a:r>
          </a:p>
          <a:p>
            <a:r>
              <a:rPr lang="en-US" sz="2000" b="1" dirty="0"/>
              <a:t>Novelty:</a:t>
            </a:r>
            <a:br>
              <a:rPr lang="en-US" sz="2000" dirty="0"/>
            </a:br>
            <a:r>
              <a:rPr lang="en-US" sz="2000" dirty="0"/>
              <a:t>Real-time secondary accident prediction using vehicle interaction intelligence + computer vision + Edge AI.</a:t>
            </a:r>
          </a:p>
          <a:p>
            <a:r>
              <a:rPr lang="en-US" sz="2000" b="1" dirty="0"/>
              <a:t>Technologies:</a:t>
            </a:r>
            <a:br>
              <a:rPr lang="en-US" sz="2000" dirty="0"/>
            </a:br>
            <a:r>
              <a:rPr lang="en-US" sz="2000" dirty="0"/>
              <a:t>YOLOv11 | OpenCV | Kafka | Edge AI | SUMO | Digital Twin | Docker</a:t>
            </a:r>
          </a:p>
          <a:p>
            <a:r>
              <a:rPr lang="en-US" sz="2000" b="1" dirty="0"/>
              <a:t>Expected Impact:</a:t>
            </a:r>
            <a:br>
              <a:rPr lang="en-US" sz="2000" dirty="0"/>
            </a:br>
            <a:r>
              <a:rPr lang="en-US" sz="2000" dirty="0"/>
              <a:t>Reduced secondary collisions, faster warnings and improved emergency response.</a:t>
            </a:r>
          </a:p>
          <a:p>
            <a:r>
              <a:rPr lang="en-US" sz="2000" b="1" dirty="0"/>
              <a:t>SDGs:</a:t>
            </a:r>
            <a:br>
              <a:rPr lang="en-US" sz="2000" dirty="0"/>
            </a:br>
            <a:r>
              <a:rPr lang="en-US" sz="2000" b="1" dirty="0"/>
              <a:t>SDG 3</a:t>
            </a:r>
            <a:r>
              <a:rPr lang="en-US" sz="2000" dirty="0"/>
              <a:t> — Good Health &amp; Well-being</a:t>
            </a:r>
            <a:br>
              <a:rPr lang="en-US" sz="2000" dirty="0"/>
            </a:br>
            <a:r>
              <a:rPr lang="en-US" sz="2000" b="1" dirty="0"/>
              <a:t>SDG 11</a:t>
            </a:r>
            <a:r>
              <a:rPr lang="en-US" sz="2000" dirty="0"/>
              <a:t> — Sustainable Cities &amp; Communities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4DAAE-8524-979F-9218-9FD428D53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Date Placeholder 33">
            <a:extLst>
              <a:ext uri="{FF2B5EF4-FFF2-40B4-BE49-F238E27FC236}">
                <a16:creationId xmlns:a16="http://schemas.microsoft.com/office/drawing/2014/main" id="{10D6C9C7-FA45-1780-6AB2-290CD83B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7" name="Slide Number Placeholder 35">
            <a:extLst>
              <a:ext uri="{FF2B5EF4-FFF2-40B4-BE49-F238E27FC236}">
                <a16:creationId xmlns:a16="http://schemas.microsoft.com/office/drawing/2014/main" id="{2CF16D96-F269-4E12-B8C7-73D2BDB5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36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88EC-CC26-50BE-0BD7-5CE6E86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129" y="2594978"/>
            <a:ext cx="5235742" cy="1325563"/>
          </a:xfrm>
        </p:spPr>
        <p:txBody>
          <a:bodyPr>
            <a:normAutofit/>
          </a:bodyPr>
          <a:lstStyle/>
          <a:p>
            <a:r>
              <a:rPr lang="en-US" sz="8000" b="1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1E3D8-0007-CE33-32DC-2B4F348A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Date Placeholder 33">
            <a:extLst>
              <a:ext uri="{FF2B5EF4-FFF2-40B4-BE49-F238E27FC236}">
                <a16:creationId xmlns:a16="http://schemas.microsoft.com/office/drawing/2014/main" id="{02DCE0B3-F5BA-476A-F10E-75A1F9C6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IN" b="1" dirty="0"/>
              <a:t>20 Augest 2026</a:t>
            </a:r>
          </a:p>
        </p:txBody>
      </p:sp>
      <p:sp>
        <p:nvSpPr>
          <p:cNvPr id="6" name="Footer Placeholder 34">
            <a:extLst>
              <a:ext uri="{FF2B5EF4-FFF2-40B4-BE49-F238E27FC236}">
                <a16:creationId xmlns:a16="http://schemas.microsoft.com/office/drawing/2014/main" id="{87556EF5-FD33-41C8-3A70-6BAF65A6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b="1" dirty="0"/>
              <a:t>S</a:t>
            </a:r>
            <a:r>
              <a:rPr lang="en-US" altLang="en-IN" b="1" dirty="0"/>
              <a:t>OA</a:t>
            </a:r>
            <a:r>
              <a:rPr lang="en-IN" b="1" dirty="0"/>
              <a:t> Project Review-1</a:t>
            </a:r>
          </a:p>
        </p:txBody>
      </p:sp>
      <p:sp>
        <p:nvSpPr>
          <p:cNvPr id="7" name="Slide Number Placeholder 35">
            <a:extLst>
              <a:ext uri="{FF2B5EF4-FFF2-40B4-BE49-F238E27FC236}">
                <a16:creationId xmlns:a16="http://schemas.microsoft.com/office/drawing/2014/main" id="{D7CEE0EC-3899-5ED1-A1BD-91FBA348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368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1157</Words>
  <Application>Microsoft Office PowerPoint</Application>
  <PresentationFormat>Widescreen</PresentationFormat>
  <Paragraphs>179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Outline of Research Work </vt:lpstr>
      <vt:lpstr>Introduction</vt:lpstr>
      <vt:lpstr>Problem Statement And Solution</vt:lpstr>
      <vt:lpstr>Focus</vt:lpstr>
      <vt:lpstr>Literature Survey </vt:lpstr>
      <vt:lpstr>Challenges</vt:lpstr>
      <vt:lpstr>Objectives</vt:lpstr>
      <vt:lpstr>Proposed Method</vt:lpstr>
      <vt:lpstr>Conclusion &amp; Future Work</vt:lpstr>
      <vt:lpstr>References</vt:lpstr>
      <vt:lpstr>Publications Details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alekhya suryakantha</dc:creator>
  <cp:lastModifiedBy>alekhya suryakantha</cp:lastModifiedBy>
  <cp:revision>3</cp:revision>
  <dcterms:created xsi:type="dcterms:W3CDTF">2026-08-19T15:50:28Z</dcterms:created>
  <dcterms:modified xsi:type="dcterms:W3CDTF">2026-08-20T09:34:20Z</dcterms:modified>
</cp:coreProperties>
</file>